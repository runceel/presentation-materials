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icrosoft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0100" y="274320"/>
            <a:ext cx="1950720" cy="409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default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center">
  <p:cSld name="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sectio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backcover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kdStage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500001" r:id="rId1"/>
    <p:sldLayoutId id="2147500002" r:id="rId2"/>
    <p:sldLayoutId id="2147500003" r:id="rId3"/>
    <p:sldLayoutId id="2147500004" r:id="rId4"/>
    <p:sldLayoutId id="2147500005" r:id="rId5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610803"/>
            <a:ext cx="6778943" cy="769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>
              <a:lnSpc>
                <a:spcPts val="3030"/>
              </a:lnSpc>
            </a:pPr>
            <a:r>
              <a:rPr lang="en-US" noProof="1" sz="2805" b="1">
                <a:solidFill>
                  <a:srgbClr val="0078D4"/>
                </a:solidFill>
                <a:latin typeface="Yu Gothic UI"/>
                <a:ea typeface="Yu Gothic UI"/>
              </a:rPr>
              <a:t>きのこ vs たけのこ
戦争に終止符を!!!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3757613"/>
            <a:ext cx="3876675" cy="297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～ 結論は「きのこの山」。その理由を証明します ～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本日のアジェンダ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805815"/>
            <a:ext cx="10591800" cy="1754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1.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きのたけ戦争とは何か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2.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きのこが備える三つの決定力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3.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五つの評価軸で直接対決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4.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たけのこ派の主張を検証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Char char="5.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最終判定：きのこの圧勝</a:t>
            </a:r>
            <a:endParaRPr lang="en-US" noProof="1">
              <a:ea typeface="Yu Gothic UI"/>
            </a:endParaRPr>
          </a:p>
        </p:txBody>
      </p:sp>
      <p:pic>
        <p:nvPicPr>
          <p:cNvPr id="4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754630"/>
            <a:ext cx="10591800" cy="873442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00100" y="2754630"/>
            <a:ext cx="10591800" cy="873443"/>
          </a:xfrm>
          <a:prstGeom prst="rect">
            <a:avLst/>
          </a:prstGeom>
          <a:noFill/>
          <a:ln>
            <a:noFill/>
          </a:ln>
        </p:spPr>
        <p:txBody>
          <a:bodyPr wrap="none" lIns="249555" tIns="96203" rIns="0" bIns="96203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5F6B7A"/>
                </a:solidFill>
                <a:latin typeface="Yu Gothic UI"/>
                <a:ea typeface="Yu Gothic UI"/>
              </a:rPr>
              <a:t xml:space="preserve"> ※ 本スライドは親しみやすさ重視のネタですが、判定は本気です 🍄 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6130" y="6384608"/>
            <a:ext cx="445770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2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きのたけ戦争とは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805815"/>
            <a:ext cx="10591800" cy="1380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「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きのこの山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」と「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たけのこの里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」、どちらが上かを巡る論争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きのこの山が先輩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として 1975 年に登場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SNS やネットで定期的に再燃する国民的話題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しかし、歴史・構造・実用性を比べれば答えは明白</a:t>
            </a:r>
            <a:endParaRPr lang="en-US" noProof="1">
              <a:ea typeface="Yu Gothic UI"/>
            </a:endParaRPr>
          </a:p>
        </p:txBody>
      </p:sp>
      <p:pic>
        <p:nvPicPr>
          <p:cNvPr id="4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380298"/>
            <a:ext cx="10591800" cy="873443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00100" y="2380298"/>
            <a:ext cx="10591800" cy="873443"/>
          </a:xfrm>
          <a:prstGeom prst="rect">
            <a:avLst/>
          </a:prstGeom>
          <a:noFill/>
          <a:ln>
            <a:noFill/>
          </a:ln>
        </p:spPr>
        <p:txBody>
          <a:bodyPr wrap="none" lIns="249555" tIns="96203" rIns="0" bIns="96203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5F6B7A"/>
                </a:solidFill>
                <a:latin typeface="Yu Gothic UI"/>
                <a:ea typeface="Yu Gothic UI"/>
              </a:rPr>
              <a:t xml:space="preserve"> 先に山を切り拓いたのは、きのこです。 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6130" y="6384608"/>
            <a:ext cx="445770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3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きのこが備える「三つの決定力」</a:t>
            </a:r>
            <a:endParaRPr lang="en-US" noProof="1">
              <a:ea typeface="Yu Gothic UI"/>
            </a:endParaRPr>
          </a:p>
        </p:txBody>
      </p:sp>
      <p:pic>
        <p:nvPicPr>
          <p:cNvPr id="3" name="effect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05765"/>
            <a:ext cx="11201400" cy="2487930"/>
          </a:xfrm>
          <a:prstGeom prst="rect">
            <a:avLst/>
          </a:prstGeom>
        </p:spPr>
      </p:pic>
      <p:graphicFrame>
        <p:nvGraphicFramePr>
          <p:cNvPr id="4" name="Table 4"/>
          <p:cNvGraphicFramePr/>
          <p:nvPr/>
        </p:nvGraphicFramePr>
        <p:xfrm>
          <a:off x="800100" y="710565"/>
          <a:ext cx="10591800" cy="1878330"/>
        </p:xfrm>
        <a:graphic>
          <a:graphicData uri="http://schemas.openxmlformats.org/drawingml/2006/table">
            <a:tbl>
              <a:tblPr firstRow="1" bandRow="1"/>
              <a:tblGrid>
                <a:gridCol w="3171534"/>
                <a:gridCol w="3774002"/>
                <a:gridCol w="3646264"/>
              </a:tblGrid>
              <a:tr h="469583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67B8"/>
                          </a:solidFill>
                          <a:latin typeface="Yu Gothic UI"/>
                          <a:ea typeface="Yu Gothic UI"/>
                        </a:rPr>
                        <a:t>決定力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67B8"/>
                          </a:solidFill>
                          <a:latin typeface="Yu Gothic UI"/>
                          <a:ea typeface="Yu Gothic UI"/>
                        </a:rPr>
                        <a:t>きのこの山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67B8"/>
                          </a:solidFill>
                          <a:latin typeface="Yu Gothic UI"/>
                          <a:ea typeface="Yu Gothic UI"/>
                        </a:rPr>
                        <a:t>たけのこの里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469583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チョコの存在感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傘で堂々と主役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生地に包まれがち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  <a:tr h="469583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食べやすさ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軸を持てて合理的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全面を指でつまむ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  <a:tr h="469583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食感の設計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パリッ＋なめらか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しっとり一体型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5"/>
          <p:cNvSpPr/>
          <p:nvPr/>
        </p:nvSpPr>
        <p:spPr>
          <a:xfrm>
            <a:off x="800100" y="2684145"/>
            <a:ext cx="10591800" cy="297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→ 味・機能・構造。すべてに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きのこの思想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があります。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3273" y="6384608"/>
            <a:ext cx="448628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4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決定力①：チョコが主役だと一目でわかる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805815"/>
            <a:ext cx="10591800" cy="1380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大きな傘＝チョコ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。見た瞬間から満足を予告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軸＝クラッカー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。主役を支える名脇役に徹する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ひと口で「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パリッ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」と「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とろり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」の二重奏 🎵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部位ごとに食べても、まとめて食べても楽しめる</a:t>
            </a:r>
            <a:endParaRPr lang="en-US" noProof="1">
              <a:ea typeface="Yu Gothic UI"/>
            </a:endParaRPr>
          </a:p>
        </p:txBody>
      </p:sp>
      <p:pic>
        <p:nvPicPr>
          <p:cNvPr id="4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380298"/>
            <a:ext cx="10591800" cy="873443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00100" y="2380298"/>
            <a:ext cx="10591800" cy="873443"/>
          </a:xfrm>
          <a:prstGeom prst="rect">
            <a:avLst/>
          </a:prstGeom>
          <a:noFill/>
          <a:ln>
            <a:noFill/>
          </a:ln>
        </p:spPr>
        <p:txBody>
          <a:bodyPr wrap="none" lIns="249555" tIns="96203" rIns="0" bIns="96203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5F6B7A"/>
                </a:solidFill>
                <a:latin typeface="Yu Gothic UI"/>
                <a:ea typeface="Yu Gothic UI"/>
              </a:rPr>
              <a:t xml:space="preserve"> チョコ菓子なら、チョコを堂々と見せるべきです。 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6130" y="6384608"/>
            <a:ext cx="445770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5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決定力②：「軸」は究極のユーザー体験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805815"/>
            <a:ext cx="10591800" cy="1380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つまむ → 食べる → 次へ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が迷いなく完結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指にチョコが付きにくく、仕事中でもゲーム中でも快適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傘に触れずに食べられる、衛生的で合理的な設計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最後の一本まで同じ持ち方で楽しめる</a:t>
            </a:r>
            <a:endParaRPr lang="en-US" noProof="1">
              <a:ea typeface="Yu Gothic UI"/>
            </a:endParaRPr>
          </a:p>
        </p:txBody>
      </p:sp>
      <p:pic>
        <p:nvPicPr>
          <p:cNvPr id="4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380298"/>
            <a:ext cx="10591800" cy="873443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00100" y="2380298"/>
            <a:ext cx="10591800" cy="873443"/>
          </a:xfrm>
          <a:prstGeom prst="rect">
            <a:avLst/>
          </a:prstGeom>
          <a:noFill/>
          <a:ln>
            <a:noFill/>
          </a:ln>
        </p:spPr>
        <p:txBody>
          <a:bodyPr wrap="none" lIns="249555" tIns="96203" rIns="0" bIns="96203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5F6B7A"/>
                </a:solidFill>
                <a:latin typeface="Yu Gothic UI"/>
                <a:ea typeface="Yu Gothic UI"/>
              </a:rPr>
              <a:t xml:space="preserve"> おいしさだけでなく、食べる人まで考えている。それがきのこです。 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5178" y="6384608"/>
            <a:ext cx="446723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6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五番勝負：きのこ、堂々の完全勝利</a:t>
            </a:r>
            <a:endParaRPr lang="en-US" noProof="1">
              <a:ea typeface="Yu Gothic UI"/>
            </a:endParaRPr>
          </a:p>
        </p:txBody>
      </p:sp>
      <p:pic>
        <p:nvPicPr>
          <p:cNvPr id="3" name="effect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05765"/>
            <a:ext cx="11201400" cy="3422333"/>
          </a:xfrm>
          <a:prstGeom prst="rect">
            <a:avLst/>
          </a:prstGeom>
        </p:spPr>
      </p:pic>
      <p:graphicFrame>
        <p:nvGraphicFramePr>
          <p:cNvPr id="4" name="Table 4"/>
          <p:cNvGraphicFramePr/>
          <p:nvPr/>
        </p:nvGraphicFramePr>
        <p:xfrm>
          <a:off x="800100" y="710565"/>
          <a:ext cx="10591800" cy="2812733"/>
        </p:xfrm>
        <a:graphic>
          <a:graphicData uri="http://schemas.openxmlformats.org/drawingml/2006/table">
            <a:tbl>
              <a:tblPr firstRow="1" bandRow="1"/>
              <a:tblGrid>
                <a:gridCol w="3525515"/>
                <a:gridCol w="2373860"/>
                <a:gridCol w="4692425"/>
              </a:tblGrid>
              <a:tr h="468789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67B8"/>
                          </a:solidFill>
                          <a:latin typeface="Yu Gothic UI"/>
                          <a:ea typeface="Yu Gothic UI"/>
                        </a:rPr>
                        <a:t>評価軸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67B8"/>
                          </a:solidFill>
                          <a:latin typeface="Yu Gothic UI"/>
                          <a:ea typeface="Yu Gothic UI"/>
                        </a:rPr>
                        <a:t>勝者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 b="1">
                          <a:solidFill>
                            <a:srgbClr val="0067B8"/>
                          </a:solidFill>
                          <a:latin typeface="Yu Gothic UI"/>
                          <a:ea typeface="Yu Gothic UI"/>
                        </a:rPr>
                        <a:t>決め手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468789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チョコの存在感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 xml:space="preserve">🍄 </a:t>
                      </a: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きのこ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大きな傘が主役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  <a:tr h="468789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食感の変化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 xml:space="preserve">🍄 </a:t>
                      </a: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きのこ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二素材の鮮やかな対比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  <a:tr h="468789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手の汚れにくさ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 xml:space="preserve">🍄 </a:t>
                      </a: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きのこ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軸を持てる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  <a:tr h="468789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食べ方の自由度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 xml:space="preserve">🍄 </a:t>
                      </a: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きのこ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分けても一緒でも楽しい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  <a:tr h="468789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造形の独自性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 xml:space="preserve">🍄 </a:t>
                      </a:r>
                      <a:r>
                        <a:rPr lang="en-US" noProof="1" sz="1358" b="1">
                          <a:solidFill>
                            <a:srgbClr val="0078D4"/>
                          </a:solidFill>
                          <a:latin typeface="Yu Gothic UI"/>
                          <a:ea typeface="Yu Gothic UI"/>
                        </a:rPr>
                        <a:t>きのこ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2108"/>
                        </a:lnSpc>
                      </a:pPr>
                      <a:r>
                        <a:rPr lang="en-US" noProof="1" sz="1358">
                          <a:solidFill>
                            <a:srgbClr val="000000"/>
                          </a:solidFill>
                          <a:latin typeface="Yu Gothic UI"/>
                          <a:ea typeface="Yu Gothic UI"/>
                        </a:rPr>
                        <a:t>一目でわかる象徴性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E8E6DF"/>
                      </a:solidFill>
                    </a:lnL>
                    <a:lnR w="9525">
                      <a:solidFill>
                        <a:srgbClr val="E8E6DF"/>
                      </a:solidFill>
                    </a:lnR>
                    <a:lnT w="9525">
                      <a:solidFill>
                        <a:srgbClr val="E8E6DF"/>
                      </a:solidFill>
                    </a:lnT>
                    <a:lnB w="9525">
                      <a:solidFill>
                        <a:srgbClr val="E8E6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5"/>
          <p:cNvSpPr/>
          <p:nvPr/>
        </p:nvSpPr>
        <p:spPr>
          <a:xfrm>
            <a:off x="800100" y="3618548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最終スコア　きのこ 5 − 0 たけのこ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8035" y="6384608"/>
            <a:ext cx="443865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7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460"/>
              </a:lnSpc>
            </a:pPr>
            <a:r>
              <a:rPr lang="en-US" noProof="1" sz="2160" b="1">
                <a:solidFill>
                  <a:srgbClr val="0078D4"/>
                </a:solidFill>
                <a:latin typeface="Yu Gothic UI"/>
                <a:ea typeface="Yu Gothic UI"/>
              </a:rPr>
              <a:t>たけのこ派の主張を検証する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805815"/>
            <a:ext cx="10591800" cy="2128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「クッキーが濃厚」</a:t>
            </a:r>
            <a:endParaRPr lang="en-US" noProof="1">
              <a:ea typeface="Yu Gothic UI"/>
            </a:endParaRPr>
          </a:p>
          <a:p>
            <a:pPr algn="l" lvl="1" marL="51816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→ 濃厚さだけでは単調。きのこは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チョコとの対比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で最後まで飽きない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「一体感がある」</a:t>
            </a:r>
            <a:endParaRPr lang="en-US" noProof="1">
              <a:ea typeface="Yu Gothic UI"/>
            </a:endParaRPr>
          </a:p>
          <a:p>
            <a:pPr algn="l" lvl="1" marL="51816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→ 分離構造だからこそ、味と食感の変化を明確に楽しめる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「人気投票で勝つこともある」</a:t>
            </a:r>
            <a:endParaRPr lang="en-US" noProof="1">
              <a:ea typeface="Yu Gothic UI"/>
            </a:endParaRPr>
          </a:p>
          <a:p>
            <a:pPr algn="l" lvl="1" marL="518160" indent="-25908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Char char="•"/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→ 人気は時代で動く。しかし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持ち手・構造・体験設計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は揺るがない</a:t>
            </a:r>
            <a:endParaRPr lang="en-US" noProof="1">
              <a:ea typeface="Yu Gothic UI"/>
            </a:endParaRPr>
          </a:p>
        </p:txBody>
      </p:sp>
      <p:pic>
        <p:nvPicPr>
          <p:cNvPr id="4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128963"/>
            <a:ext cx="10591800" cy="873442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00100" y="3128963"/>
            <a:ext cx="10591800" cy="873443"/>
          </a:xfrm>
          <a:prstGeom prst="rect">
            <a:avLst/>
          </a:prstGeom>
          <a:noFill/>
          <a:ln>
            <a:noFill/>
          </a:ln>
        </p:spPr>
        <p:txBody>
          <a:bodyPr wrap="none" lIns="249555" tIns="96203" rIns="0" bIns="96203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5F6B7A"/>
                </a:solidFill>
                <a:latin typeface="Yu Gothic UI"/>
                <a:ea typeface="Yu Gothic UI"/>
              </a:rPr>
              <a:t xml:space="preserve"> 好みは自由。しかし、設計の完成度には差があります。 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6130" y="6384608"/>
            <a:ext cx="445770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8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3848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3030"/>
              </a:lnSpc>
            </a:pPr>
            <a:r>
              <a:rPr lang="en-US" noProof="1" sz="2805" b="1">
                <a:solidFill>
                  <a:srgbClr val="0078D4"/>
                </a:solidFill>
                <a:latin typeface="Yu Gothic UI"/>
                <a:ea typeface="Yu Gothic UI"/>
              </a:rPr>
              <a:t>最終判定：きのこの圧勝 🍄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843915"/>
            <a:ext cx="10591800" cy="1380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味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：チョコとクラッカーの対比が鮮明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機能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：軸を持てるからスマート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923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体験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：見て、持って、食べて楽しい</a:t>
            </a:r>
            <a:endParaRPr lang="en-US" noProof="1">
              <a:ea typeface="Yu Gothic UI"/>
            </a:endParaRPr>
          </a:p>
          <a:p>
            <a:pPr algn="l" lvl="0" marL="259080" indent="-25908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Char char="•"/>
            </a:pP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歴史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>：山を切り拓いた先駆者</a:t>
            </a:r>
            <a:endParaRPr lang="en-US" noProof="1">
              <a:ea typeface="Yu Gothic UI"/>
            </a:endParaRPr>
          </a:p>
        </p:txBody>
      </p:sp>
      <p:pic>
        <p:nvPicPr>
          <p:cNvPr id="4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18398"/>
            <a:ext cx="10591800" cy="1170623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00100" y="2418398"/>
            <a:ext cx="10591800" cy="1170623"/>
          </a:xfrm>
          <a:prstGeom prst="rect">
            <a:avLst/>
          </a:prstGeom>
          <a:noFill/>
          <a:ln>
            <a:noFill/>
          </a:ln>
        </p:spPr>
        <p:txBody>
          <a:bodyPr wrap="square" lIns="249555" tIns="96203" rIns="211455" bIns="96203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5F6B7A"/>
                </a:solidFill>
                <a:latin typeface="Yu Gothic UI"/>
                <a:ea typeface="Yu Gothic UI"/>
              </a:rPr>
              <a:t xml:space="preserve"> お菓子を選ぶのではない。完成された体験を選ぶ。
だから私たちは、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きのこの山</a:t>
            </a:r>
            <a:r>
              <a:rPr lang="en-US" noProof="1" sz="1515">
                <a:solidFill>
                  <a:srgbClr val="5F6B7A"/>
                </a:solidFill>
                <a:latin typeface="Yu Gothic UI"/>
                <a:ea typeface="Yu Gothic UI"/>
              </a:rPr>
              <a:t xml:space="preserve">を選びます。 </a:t>
            </a:r>
            <a:endParaRPr lang="en-US" noProof="1">
              <a:ea typeface="Yu Gothic UI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0945178" y="6384608"/>
            <a:ext cx="446723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9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00100" y="274320"/>
            <a:ext cx="10591800" cy="769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>
              <a:lnSpc>
                <a:spcPts val="3030"/>
              </a:lnSpc>
            </a:pPr>
            <a:r>
              <a:rPr lang="en-US" noProof="1" sz="2805" b="1">
                <a:solidFill>
                  <a:srgbClr val="0078D4"/>
                </a:solidFill>
                <a:latin typeface="Yu Gothic UI"/>
                <a:ea typeface="Yu Gothic UI"/>
              </a:rPr>
              <a:t>ご清聴
ありがとうございました</a:t>
            </a:r>
            <a:endParaRPr lang="en-US" noProof="1">
              <a:ea typeface="Yu Gothic UI"/>
            </a:endParaRPr>
          </a:p>
        </p:txBody>
      </p:sp>
      <p:sp>
        <p:nvSpPr>
          <p:cNvPr id="3" name="Text 3"/>
          <p:cNvSpPr/>
          <p:nvPr/>
        </p:nvSpPr>
        <p:spPr>
          <a:xfrm>
            <a:off x="800100" y="1133475"/>
            <a:ext cx="10591800" cy="5953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>
              <a:lnSpc>
                <a:spcPts val="2340"/>
              </a:lnSpc>
            </a:pP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 xml:space="preserve">次に箱へ伸ばす手は、もう決まりましたね。
</a:t>
            </a:r>
            <a:r>
              <a:rPr lang="en-US" noProof="1" sz="1515" b="1">
                <a:solidFill>
                  <a:srgbClr val="0078D4"/>
                </a:solidFill>
                <a:latin typeface="Yu Gothic UI"/>
                <a:ea typeface="Yu Gothic UI"/>
              </a:rPr>
              <a:t>ようこそ、きのこの山へ。</a:t>
            </a:r>
            <a:r>
              <a:rPr lang="en-US" noProof="1" sz="1515">
                <a:solidFill>
                  <a:srgbClr val="000000"/>
                </a:solidFill>
                <a:latin typeface="Yu Gothic UI"/>
                <a:ea typeface="Yu Gothic UI"/>
              </a:rPr>
              <a:t xml:space="preserve"> 🍄</a:t>
            </a:r>
            <a:endParaRPr lang="en-US" noProof="1">
              <a:ea typeface="Yu Gothic UI"/>
            </a:endParaRPr>
          </a:p>
        </p:txBody>
      </p:sp>
      <p:pic>
        <p:nvPicPr>
          <p:cNvPr id="4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260783"/>
            <a:ext cx="10591800" cy="322897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10903268" y="6384608"/>
            <a:ext cx="488633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0067B8"/>
                </a:solidFill>
                <a:latin typeface="Yu Gothic UI"/>
                <a:ea typeface="Yu Gothic UI"/>
              </a:rPr>
              <a:t>10 / 10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croso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74320"/>
            <a:ext cx="1950720" cy="409575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800100" y="6450330"/>
            <a:ext cx="105918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/>
            <a:r>
              <a:rPr lang="en-US" noProof="1" sz="750">
                <a:solidFill>
                  <a:srgbClr val="FFFFFF">
                    <a:alpha val="78000"/>
                  </a:srgbClr>
                </a:solidFill>
                <a:latin typeface="Yu Gothic UI"/>
                <a:ea typeface="Yu Gothic UI"/>
              </a:rPr>
              <a:t>© Copyright Microsoft Corporation. All rights reserved.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dStage custom">
  <a:themeElements>
    <a:clrScheme name="MarkdStage custom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arkdStage custom">
      <a:majorFont>
        <a:latin typeface="Segoe UI"/>
        <a:ea typeface="Yu Gothic UI"/>
        <a:cs typeface=""/>
        <a:font script="Jpan" typeface="Yu Gothic UI"/>
      </a:majorFont>
      <a:minorFont>
        <a:latin typeface="Segoe UI"/>
        <a:ea typeface="Yu Gothic UI"/>
        <a:cs typeface=""/>
        <a:font script="Jpan" typeface="Yu Gothic UI"/>
      </a:minorFont>
    </a:fontScheme>
    <a:fmtScheme name="MarkdStage custom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MarkdStage</Application>
  <PresentationFormat>On-screen Show (16:9)</PresentationFormat>
  <Slides>11</Slides>
  <Notes>0</Notes>
  <HiddenSlides>0</HiddenSlides>
  <MMClips>0</MMClip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きのこ vs たけのこ戦争に終止符を!!!</dc:title>
  <dc:creator>MarkdStage</dc:creator>
  <cp:lastModifiedBy>MarkdStage</cp:lastModifiedBy>
</cp:coreProperties>
</file>